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73152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743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7315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EKEMA</a:t>
            </a:r>
            <a:endParaRPr lang="en-US" sz="92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4864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démarches, simplifiées.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administrative &amp; académique • Voix + Texte • Hors ligne • Gratuit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1920240" cy="54864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la Société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0" y="4114800"/>
            <a:ext cx="1920240" cy="54864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GCD4F 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4114800"/>
            <a:ext cx="1920240" cy="54864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Cameroun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"L'administration expliquée à tous</a:t>
            </a:r>
            <a:endParaRPr lang="en-US" sz="1200" dirty="0"/>
          </a:p>
          <a:p>
            <a:pPr algn="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avec ou sans connexion."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DEUX PROBLÈMES. UNE SOLUTION.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109728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3716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PROCÉDURES ADMINISTRATIVES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76148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2743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Allers-retours inutiles faute d'info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310896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30906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oubliés à chaque passage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34564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4381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réels jamais communiqués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" y="38039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" y="37856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Bureaux difficiles à localiser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11480" y="415137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3232" y="41330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Analphabètes complètement exclus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84632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1188720"/>
            <a:ext cx="4023360" cy="10972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822960" cy="8229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4632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PROCÉDURES ACADÉMIQUES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83480" y="276148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285232" y="2743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concours incomplets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983480" y="310896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285232" y="30906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Normes de rédaction inconnues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983480" y="34564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285232" y="34381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manqués faute d'info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983480" y="38039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285232" y="37856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Lettres rejetées pour vices de forme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983480" y="415137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5285232" y="41330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guide officiel accessible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4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millions de citoyens concernés  •  300 000 étudiants passent des concours chaque année  •  0 guide officiel accessible gratuit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2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 QU'EKEMA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conseiller personnel intelligent pour toutes vos démarches.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décrivez votre situation en voix ou en texte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EKEMA pose 2 à 5 questions ciblées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340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génère votre plan d'action personnalisé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3009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rédige votre document officiel complet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8679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hors ligne sur tout Android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1463040" cy="1463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035040" y="2011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EKEMA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035040" y="25603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démarches,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simplifiées.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72200" y="3520440"/>
            <a:ext cx="2194560" cy="457200"/>
          </a:xfrm>
          <a:prstGeom prst="rect">
            <a:avLst/>
          </a:prstGeom>
          <a:solidFill>
            <a:srgbClr val="1A5C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: Admin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72200" y="4114800"/>
            <a:ext cx="2194560" cy="457200"/>
          </a:xfrm>
          <a:prstGeom prst="rect">
            <a:avLst/>
          </a:prstGeom>
          <a:solidFill>
            <a:srgbClr val="1A5C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: Académique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DEUX MODULES DU MVP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 — ADMINISTRATIF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374904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828800"/>
            <a:ext cx="73152" cy="4389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288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 CNI / Passeport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40864"/>
            <a:ext cx="374904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340864"/>
            <a:ext cx="73152" cy="4389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3408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Actes civils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852928"/>
            <a:ext cx="374904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852928"/>
            <a:ext cx="73152" cy="43891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529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Création d'entreprise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374904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364992"/>
            <a:ext cx="73152" cy="4389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3649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 Foncier / Permis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877056"/>
            <a:ext cx="3749040" cy="43891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3877056"/>
            <a:ext cx="73152" cy="43891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8770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Procédures judiciaires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d'action • Carte bureau • Coûts • Délais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88720"/>
            <a:ext cx="402336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188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 — ACADÉMIQUE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1783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Concours &amp; Examens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2176272"/>
            <a:ext cx="37490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2176272"/>
            <a:ext cx="7315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ENS, ENAM, ENSP, Médecine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2587752"/>
            <a:ext cx="3749040" cy="347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983480" y="2587752"/>
            <a:ext cx="7315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5138928" y="2587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IRIC, FASA, Masters/Doctorats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8348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 — Génération de Documents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83480" y="3456432"/>
            <a:ext cx="3749040" cy="292608"/>
          </a:xfrm>
          <a:prstGeom prst="rect">
            <a:avLst/>
          </a:prstGeom>
          <a:solidFill>
            <a:srgbClr val="F0F2F5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493008"/>
            <a:ext cx="182880" cy="1828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266944" y="34564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de bourse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983480" y="3803904"/>
            <a:ext cx="3749040" cy="2926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840480"/>
            <a:ext cx="182880" cy="18288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266944" y="380390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Lettre de motivation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983480" y="4151376"/>
            <a:ext cx="3749040" cy="292608"/>
          </a:xfrm>
          <a:prstGeom prst="rect">
            <a:avLst/>
          </a:prstGeom>
          <a:solidFill>
            <a:srgbClr val="F0F2F5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87952"/>
            <a:ext cx="182880" cy="1828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266944" y="41513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Doyen/Recteur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983480" y="4498848"/>
            <a:ext cx="3749040" cy="2926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35424"/>
            <a:ext cx="182880" cy="1828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266944" y="4498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Contestation résultats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484632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complet • Format officiel • PDF prêt à imprimer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COMMENT ÇA FONCTIONNE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965960" cy="3566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6596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80160"/>
            <a:ext cx="685800" cy="6858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PARLER OU ÉCRIRE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décrit sa situation en français ou camfranglais, par voix ou texte.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31136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23160" y="1097280"/>
            <a:ext cx="1965960" cy="3566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1097280"/>
            <a:ext cx="196596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Shape 11"/>
          <p:cNvSpPr/>
          <p:nvPr/>
        </p:nvSpPr>
        <p:spPr>
          <a:xfrm>
            <a:off x="3063240" y="1280160"/>
            <a:ext cx="685800" cy="6858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30632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148840"/>
            <a:ext cx="685800" cy="685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 CIBLÉ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51460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EKEMA pose 2 à 5 questions précises pour personnaliser la réponse à la situation exacte.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379976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72000" y="1097280"/>
            <a:ext cx="1965960" cy="3566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0" y="1097280"/>
            <a:ext cx="196596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Shape 18"/>
          <p:cNvSpPr/>
          <p:nvPr/>
        </p:nvSpPr>
        <p:spPr>
          <a:xfrm>
            <a:off x="5212080" y="1280160"/>
            <a:ext cx="685800" cy="6858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19"/>
          <p:cNvSpPr/>
          <p:nvPr/>
        </p:nvSpPr>
        <p:spPr>
          <a:xfrm>
            <a:off x="521208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4884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OU DOCUMENT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66344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EKEMA génère un plan d'action ordonné ou rédige le document officiel complet en 2 secondes.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528816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720840" y="1097280"/>
            <a:ext cx="1965960" cy="3566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20840" y="1097280"/>
            <a:ext cx="1965960" cy="10972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0" name="Shape 25"/>
          <p:cNvSpPr/>
          <p:nvPr/>
        </p:nvSpPr>
        <p:spPr>
          <a:xfrm>
            <a:off x="7360920" y="1280160"/>
            <a:ext cx="685800" cy="6858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31" name="Text 26"/>
          <p:cNvSpPr/>
          <p:nvPr/>
        </p:nvSpPr>
        <p:spPr>
          <a:xfrm>
            <a:off x="736092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48840"/>
            <a:ext cx="685800" cy="6858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2084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AGIR DIRECTEMENT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812280" y="338328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coche les étapes, voit le bureau sur la carte, appelle ou partage sur WhatsApp.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EKEMA EN ACTION — CAS CONCRETS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 Amadou veut sa CNI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57276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Amadou va au bureau, on lui dit qu'il manque un document. Il revient le lendemain. Le bureau est fermé.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EKEMA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87452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Amadou parle à EKEMA → 3 questions → liste exacte des 5 documents → carte du bureau → coût : 2 500 FCFA → délai : 72h.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50592"/>
            <a:ext cx="91440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👩‍🎓 Fatima veut le concours 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8346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ne sait pas quels documents constituer ni les dates. Elle rate le dépôt du dossier.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136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EKEMA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13639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interroge EKEMA → fiche ENS complète → checklist dossier → calendrier exact → numéro de contact service concours.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12464"/>
            <a:ext cx="91440" cy="11430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76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👨‍💼 Paul crée son entreprise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40965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ne sait pas par où commencer. Il perd 3 semaines à faire des allers-retours entre notaire, greffe et impôts.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3982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EKEMA 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439826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décrit sa SARL à EKEMA → plan 5 étapes ordonné → 9 jours → ~150 000 FCFA → bureaux sur carte → numéros.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97280"/>
            <a:ext cx="2651760" cy="36118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10972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359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Dart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7249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 accueil voix/texte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9067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408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conversationnel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3814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088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 plan d'action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8561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4088" y="3767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Générateur de documents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33088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04088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hors ligne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2953512" y="26974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2"/>
          <p:cNvSpPr/>
          <p:nvPr/>
        </p:nvSpPr>
        <p:spPr>
          <a:xfrm>
            <a:off x="3200400" y="1097280"/>
            <a:ext cx="2651760" cy="36118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200400" y="1097280"/>
            <a:ext cx="2651760" cy="109728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1280160"/>
            <a:ext cx="640080" cy="6400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2004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MOTEUR IA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3200400" y="2359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Arbre de décision JSON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274320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584448" y="27249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Compréhension NLP légère</a:t>
            </a:r>
            <a:endParaRPr lang="en-US" sz="11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090672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58444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routage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3438144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584448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contextuelles</a:t>
            </a:r>
            <a:endParaRPr lang="en-US" sz="11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785616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584448" y="3767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de templates</a:t>
            </a:r>
            <a:endParaRPr lang="en-US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7560" y="4133088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584448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camfranglais</a:t>
            </a:r>
            <a:endParaRPr lang="en-US" sz="1100" dirty="0"/>
          </a:p>
        </p:txBody>
      </p:sp>
      <p:sp>
        <p:nvSpPr>
          <p:cNvPr id="35" name="Text 21"/>
          <p:cNvSpPr/>
          <p:nvPr/>
        </p:nvSpPr>
        <p:spPr>
          <a:xfrm>
            <a:off x="5833872" y="269748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22"/>
          <p:cNvSpPr/>
          <p:nvPr/>
        </p:nvSpPr>
        <p:spPr>
          <a:xfrm>
            <a:off x="6080760" y="1097280"/>
            <a:ext cx="2651760" cy="36118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3"/>
          <p:cNvSpPr/>
          <p:nvPr/>
        </p:nvSpPr>
        <p:spPr>
          <a:xfrm>
            <a:off x="6080760" y="1097280"/>
            <a:ext cx="2651760" cy="109728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1280160"/>
            <a:ext cx="640080" cy="64008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08076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DONNÉES</a:t>
            </a:r>
            <a:endParaRPr lang="en-US" sz="1300" dirty="0"/>
          </a:p>
        </p:txBody>
      </p:sp>
      <p:sp>
        <p:nvSpPr>
          <p:cNvPr id="40" name="Text 25"/>
          <p:cNvSpPr/>
          <p:nvPr/>
        </p:nvSpPr>
        <p:spPr>
          <a:xfrm>
            <a:off x="6080760" y="2359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local hors ligne</a:t>
            </a:r>
            <a:endParaRPr lang="en-US" sz="10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2743200"/>
            <a:ext cx="182880" cy="18288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464808" y="27249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Procédures administratives</a:t>
            </a:r>
            <a:endParaRPr lang="en-US" sz="11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3090672"/>
            <a:ext cx="182880" cy="18288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46480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concours</a:t>
            </a:r>
            <a:endParaRPr lang="en-US" sz="11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7920" y="3438144"/>
            <a:ext cx="182880" cy="182880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464808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documents</a:t>
            </a:r>
            <a:endParaRPr lang="en-US" sz="110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7920" y="3785616"/>
            <a:ext cx="182880" cy="182880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6464808" y="3767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bureaux Yaoundé</a:t>
            </a:r>
            <a:endParaRPr lang="en-US" sz="1100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7920" y="4133088"/>
            <a:ext cx="182880" cy="182880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6464808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périodique</a:t>
            </a:r>
            <a:endParaRPr lang="en-US" sz="1100" dirty="0"/>
          </a:p>
        </p:txBody>
      </p:sp>
      <p:sp>
        <p:nvSpPr>
          <p:cNvPr id="51" name="Shape 31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2" name="Text 32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Librairies : Flutter  •  speech_to_text  •  flutter_tts  •  flutter_map  •  PDF  •  SQLite  •  share_plus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OBJECTIFS DE DÉVELOPPEMENT DURABLE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91440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399032"/>
            <a:ext cx="594360" cy="594360"/>
          </a:xfrm>
          <a:prstGeom prst="ellipse">
            <a:avLst/>
          </a:prstGeom>
          <a:solidFill>
            <a:srgbClr val="00689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Paix et Justice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 les institutions transparentes et accessibles à tous — ODD 16.6 directement.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34440"/>
            <a:ext cx="2651760" cy="91440"/>
          </a:xfrm>
          <a:prstGeom prst="rect">
            <a:avLst/>
          </a:prstGeom>
          <a:solidFill>
            <a:srgbClr val="C51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4408" y="1399032"/>
            <a:ext cx="594360" cy="594360"/>
          </a:xfrm>
          <a:prstGeom prst="ellipse">
            <a:avLst/>
          </a:prstGeom>
          <a:solidFill>
            <a:srgbClr val="C5192D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Éducation de Qualité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 aux étudiants les outils pour accéder aux concours sans barrière de forme.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51760" cy="91440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19" name="Shape 17"/>
          <p:cNvSpPr/>
          <p:nvPr/>
        </p:nvSpPr>
        <p:spPr>
          <a:xfrm>
            <a:off x="6144768" y="1399032"/>
            <a:ext cx="594360" cy="594360"/>
          </a:xfrm>
          <a:prstGeom prst="ellipse">
            <a:avLst/>
          </a:prstGeom>
          <a:solidFill>
            <a:srgbClr val="DD1367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1371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Réduction des Inégalités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accès pour le citadin instruit et le paysan rural analphabète.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34640"/>
            <a:ext cx="3886200" cy="91440"/>
          </a:xfrm>
          <a:prstGeom prst="rect">
            <a:avLst/>
          </a:prstGeom>
          <a:solidFill>
            <a:srgbClr val="A21942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2999232"/>
            <a:ext cx="594360" cy="594360"/>
          </a:xfrm>
          <a:prstGeom prst="ellipse">
            <a:avLst/>
          </a:prstGeom>
          <a:solidFill>
            <a:srgbClr val="A2194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9992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297180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Croissance Économique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 la création d'entreprises formelles et l'accès aux marchés publics.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834640"/>
            <a:ext cx="3886200" cy="91440"/>
          </a:xfrm>
          <a:prstGeom prst="rect">
            <a:avLst/>
          </a:prstGeom>
          <a:solidFill>
            <a:srgbClr val="E5243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81728" y="2999232"/>
            <a:ext cx="594360" cy="594360"/>
          </a:xfrm>
          <a:prstGeom prst="ellipse">
            <a:avLst/>
          </a:prstGeom>
          <a:solidFill>
            <a:srgbClr val="E5243B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29992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297180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 de Pauvreté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3375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Réduit la pauvreté causée par les procédures bloquantes et la corruption tarifaire.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DÉVELOPPEMENT — 7 SEMAINES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09728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Données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procédures JSON +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370832"/>
            <a:ext cx="109728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1234440"/>
            <a:ext cx="109728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0876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6362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écrans Flutter + design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08760" y="4370832"/>
            <a:ext cx="109728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1234440"/>
            <a:ext cx="109728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4320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Moteur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9806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IA + arbre de décision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4370832"/>
            <a:ext cx="109728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Shape 21"/>
          <p:cNvSpPr/>
          <p:nvPr/>
        </p:nvSpPr>
        <p:spPr>
          <a:xfrm>
            <a:off x="3977640" y="1234440"/>
            <a:ext cx="109728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4" name="Text 22"/>
          <p:cNvSpPr/>
          <p:nvPr/>
        </p:nvSpPr>
        <p:spPr>
          <a:xfrm>
            <a:off x="397764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97764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7764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3250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Générateur PDF + partage WA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77640" y="4370832"/>
            <a:ext cx="1097280" cy="10972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1234440"/>
            <a:ext cx="109728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21208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1208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6694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speech_to_text + TTS + cartes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4370832"/>
            <a:ext cx="1097280" cy="10972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1234440"/>
            <a:ext cx="109728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44652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4652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0138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users réels à Yaoundé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370832"/>
            <a:ext cx="109728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1" name="Shape 39"/>
          <p:cNvSpPr/>
          <p:nvPr/>
        </p:nvSpPr>
        <p:spPr>
          <a:xfrm>
            <a:off x="7680960" y="1234440"/>
            <a:ext cx="109728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1234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S7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680960" y="1737360"/>
            <a:ext cx="1097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8096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GCD4F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35824" y="2286000"/>
            <a:ext cx="987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+ démo + soumission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80960" y="4370832"/>
            <a:ext cx="1097280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572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DÉFI PRINCIPAL 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874520" y="4572000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données — collecter et vérifier terrain toutes les procédures camerounaises avant la soumission.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ET DIFFÉRENCIATION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17373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Citoyens camerounais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06040" cy="17373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51560"/>
            <a:ext cx="26060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300K+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Étudiants aux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concours chaque année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06040" cy="17373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606040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FCFA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pour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EKEMA VS SOLUTIONS EXISTANTES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329184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832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Fonctionne hors ligne à 100%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3832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dépendance internet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383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Toutes nécessitent internet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329184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Génère les documents officiels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7490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à imprimer en PDF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7490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Aucune ne génère de documents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329184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148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Comprend le camfranglais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114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vocale locale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41148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Anglais ou français formel uniquement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805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Couvre admin ET académique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4480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complète en un outil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4480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Séparés ou inexistants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286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EKEMA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démarches, simplifiées.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"L'administration expliquée à tous — avec ou sans connexion."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840480"/>
            <a:ext cx="1737360" cy="86868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pour la Société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4251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GCD4F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3840480"/>
            <a:ext cx="1737360" cy="86868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3886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Ligne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4251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WiFi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3840480"/>
            <a:ext cx="1737360" cy="86868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886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Voix + Texte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0" y="4251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Camfranglais inclus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66560" y="3840480"/>
            <a:ext cx="1737360" cy="868680"/>
          </a:xfrm>
          <a:prstGeom prst="rect">
            <a:avLst/>
          </a:prstGeom>
          <a:solidFill>
            <a:srgbClr val="2D7A4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3886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4251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EKEMA — Vos démarches, simplifiées.</dc:title>
  <dc:subject>PptxGenJS Presentation</dc:subject>
  <dc:creator>PptxGenJS</dc:creator>
  <cp:lastModifiedBy>PptxGenJS</cp:lastModifiedBy>
  <cp:revision>1</cp:revision>
  <dcterms:created xsi:type="dcterms:W3CDTF">2026-03-16T19:27:48Z</dcterms:created>
  <dcterms:modified xsi:type="dcterms:W3CDTF">2026-03-16T19:27:48Z</dcterms:modified>
</cp:coreProperties>
</file>